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213969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3429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5420320" cy="14813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Botanical Sounding Rockets as an Accessible Space-Biology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2542032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1">
                <a:solidFill>
                  <a:srgbClr val="36C97F"/>
                </a:solidFill>
                <a:latin typeface="Calibri"/>
              </a:rPr>
              <a:t>Arabidopsis stress-gene responses and ectomycorrhiza × Populus survival across three 2018 sounding-rocket launches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4203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C8D4E3"/>
                </a:solidFill>
                <a:latin typeface="Calibri"/>
              </a:rPr>
              <a:t>[Student Lead Author]¹, [Co-Author Student Name(s)]¹, Richard Barker², and the MadWest High School Rocket Team¹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79192"/>
            <a:ext cx="254203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 i="0">
                <a:solidFill>
                  <a:srgbClr val="8899AA"/>
                </a:solidFill>
                <a:latin typeface="Calibri"/>
              </a:rPr>
              <a:t>¹MadWest High School  ·  ²AstroBotany Laboratory, University of Wisconsin–Madison, Madison, WI, 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9040" y="201168"/>
            <a:ext cx="320040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2700" b="1" i="0">
                <a:solidFill>
                  <a:srgbClr val="FFFFFF"/>
                </a:solidFill>
                <a:latin typeface="Calibri"/>
              </a:rPr>
              <a:t>ASGSR 2026</a:t>
            </a:r>
          </a:p>
          <a:p>
            <a:pPr algn="r"/>
            <a:r>
              <a:rPr sz="2100" b="0" i="0">
                <a:solidFill>
                  <a:srgbClr val="36C97F"/>
                </a:solidFill>
                <a:latin typeface="Calibri"/>
              </a:rPr>
              <a:t>HS / MS Category</a:t>
            </a:r>
          </a:p>
          <a:p>
            <a:pPr algn="r"/>
            <a:r>
              <a:rPr sz="1800" b="0" i="0">
                <a:solidFill>
                  <a:srgbClr val="8899AA"/>
                </a:solidFill>
                <a:latin typeface="Calibri"/>
              </a:rPr>
              <a:t>August 2026 deadline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9235440" cy="521208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8503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36C97F"/>
                </a:solidFill>
                <a:latin typeface="Cambria"/>
              </a:rPr>
              <a:t>Background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70248"/>
            <a:ext cx="8778240" cy="19050"/>
          </a:xfrm>
          <a:prstGeom prst="rect">
            <a:avLst/>
          </a:prstGeom>
          <a:solidFill>
            <a:srgbClr val="36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07408"/>
            <a:ext cx="8778240" cy="4142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300" b="1" i="0">
                <a:solidFill>
                  <a:srgbClr val="FFFFFF"/>
                </a:solidFill>
                <a:latin typeface="Cambria"/>
              </a:rPr>
              <a:t>Orbital stress signature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: ISS transcriptomics (BRIC-19 / TOAST) reveal a high-light / ROS stress signature in spaceflight plants — HSP101, HSP70, and WRKY33 upregulated even in darkness (Choi et al., 2019).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300" b="1" i="0">
                <a:solidFill>
                  <a:srgbClr val="FFFFFF"/>
                </a:solidFill>
                <a:latin typeface="Cambria"/>
              </a:rPr>
              <a:t>Why sounding rockets?</a:t>
            </a:r>
          </a:p>
          <a:p>
            <a:pPr algn="l"/>
            <a:r>
              <a:rPr sz="2100" b="0" i="0">
                <a:solidFill>
                  <a:srgbClr val="C8D4E3"/>
                </a:solidFill>
                <a:latin typeface="Calibri"/>
              </a:rPr>
              <a:t>Orbital access is scarce and expensive. Suborbital sounding rockets offer:</a:t>
            </a:r>
          </a:p>
          <a:p>
            <a:pPr algn="l"/>
            <a:r>
              <a:rPr sz="2100" b="0" i="0">
                <a:solidFill>
                  <a:srgbClr val="C8D4E3"/>
                </a:solidFill>
                <a:latin typeface="Calibri"/>
              </a:rPr>
              <a:t>▸  Repeatable, student-accessible flights</a:t>
            </a:r>
          </a:p>
          <a:p>
            <a:pPr algn="l"/>
            <a:r>
              <a:rPr sz="2100" b="0" i="0">
                <a:solidFill>
                  <a:srgbClr val="C8D4E3"/>
                </a:solidFill>
                <a:latin typeface="Calibri"/>
              </a:rPr>
              <a:t>▸  Brief, intense profile: high-G boost + ballistic coast</a:t>
            </a:r>
          </a:p>
          <a:p>
            <a:pPr algn="l"/>
            <a:r>
              <a:rPr sz="2100" b="0" i="0">
                <a:solidFill>
                  <a:srgbClr val="C8D4E3"/>
                </a:solidFill>
                <a:latin typeface="Calibri"/>
              </a:rPr>
              <a:t>▸  Controls, post-flight assays, and open-data deposition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Question: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Can repeatable suborbital launches let students probe flight-associated plant biology and contribute to the open-data record?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8915400"/>
            <a:ext cx="9235440" cy="694944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907999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1E9FAF"/>
                </a:solidFill>
                <a:latin typeface="Cambria"/>
              </a:rPr>
              <a:t>Three-Launch Program (2018)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9665208"/>
            <a:ext cx="8778240" cy="19050"/>
          </a:xfrm>
          <a:prstGeom prst="rect">
            <a:avLst/>
          </a:prstGeom>
          <a:solidFill>
            <a:srgbClr val="1E9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9857232"/>
            <a:ext cx="621792" cy="621792"/>
          </a:xfrm>
          <a:prstGeom prst="ellipse">
            <a:avLst/>
          </a:prstGeom>
          <a:solidFill>
            <a:srgbClr val="2D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985723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9802368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Arabidopsis test — Launch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0369296"/>
            <a:ext cx="7955279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 i="0">
                <a:solidFill>
                  <a:srgbClr val="C8D4E3"/>
                </a:solidFill>
                <a:latin typeface="Calibri"/>
              </a:rPr>
              <a:t>Flown Arabidopsis reportedly flowered earlier than controls; co-flown ECM spores remained viable post-flight. These qualitative observations motivated the subsequent experiments.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11722608"/>
            <a:ext cx="8778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11868912"/>
            <a:ext cx="621792" cy="621792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1186891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L2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1814048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Reggies' Veggies — Arabidopsis qPCR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12380976"/>
            <a:ext cx="7955279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 i="0">
                <a:solidFill>
                  <a:srgbClr val="C8D4E3"/>
                </a:solidFill>
                <a:latin typeface="Calibri"/>
              </a:rPr>
              <a:t>Arabidopsis Col-0 flown alongside launch-site and lab controls, fixed in RNA•later on recovery. qPCR: MPK3, TCH3, CBP60g (UBQ10 reference). n = 4/group.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13734288"/>
            <a:ext cx="8778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" y="13880592"/>
            <a:ext cx="621792" cy="621792"/>
          </a:xfrm>
          <a:prstGeom prst="ellipse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1388059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L3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3825728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TREES — Populus × ECM survival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14392656"/>
            <a:ext cx="7955279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 i="0">
                <a:solidFill>
                  <a:srgbClr val="C8D4E3"/>
                </a:solidFill>
                <a:latin typeface="Calibri"/>
              </a:rPr>
              <a:t>Populus tremula ± ECM inoculation, flown vs. ground. ~2,600-frame timelapse (~12 d). Automated ExG canopy segmentation: start → peak → end trajectories.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6047720"/>
            <a:ext cx="9235440" cy="4663439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6212312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36C97F"/>
                </a:solidFill>
                <a:latin typeface="Cambria"/>
              </a:rPr>
              <a:t>Methods Summary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16797528"/>
            <a:ext cx="8778240" cy="19050"/>
          </a:xfrm>
          <a:prstGeom prst="rect">
            <a:avLst/>
          </a:prstGeom>
          <a:solidFill>
            <a:srgbClr val="36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16934688"/>
            <a:ext cx="8778240" cy="35935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All flights: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Cesaroni K1620 motor, apogee ≈4,046 ft, dual-deployment recovery (drogue at apogee, main at ~700 ft AGL); PerfectFlite altimetry.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qPCR: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ΔΔCt vs. Lab calibrator; fold-change = 2^(−ΔΔCt). n=4 bio. reps. Tissue fixed in RNA•later on recovery.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Canopy analysis: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ExG index (2G−R−B), near-white glare removal, rolling-median smoothing. Per-plant start → peak → end trajectories. ~2,600 frames over ~12 days.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Open data: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Code and processed data formatted to ISA model for NASA OSDR deposit (GitHub + Zenodo).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3520440"/>
            <a:ext cx="10149840" cy="877824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95560" y="3675888"/>
            <a:ext cx="2011680" cy="47548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3675888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KEY FINDING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0" y="3685032"/>
            <a:ext cx="7543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E05C5C"/>
                </a:solidFill>
                <a:latin typeface="Cambria"/>
              </a:rPr>
              <a:t>TREES: Mycorrhizal Seedlings Died Back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4270248"/>
            <a:ext cx="9692640" cy="19050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95560" y="4407408"/>
            <a:ext cx="4434840" cy="1572768"/>
          </a:xfrm>
          <a:prstGeom prst="rect">
            <a:avLst/>
          </a:prstGeom>
          <a:solidFill>
            <a:srgbClr val="1A0B0B"/>
          </a:solidFill>
          <a:ln w="9525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4407408"/>
            <a:ext cx="4434840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900" b="0" i="0">
                <a:solidFill>
                  <a:srgbClr val="C8D4E3"/>
                </a:solidFill>
                <a:latin typeface="Calibri"/>
              </a:rPr>
              <a:t>+ECM survived to</a:t>
            </a:r>
          </a:p>
          <a:p>
            <a:pPr algn="ctr"/>
            <a:r>
              <a:rPr sz="5200" b="1" i="0">
                <a:solidFill>
                  <a:srgbClr val="E05C5C"/>
                </a:solidFill>
                <a:latin typeface="Cambria"/>
              </a:rPr>
              <a:t>71–73%</a:t>
            </a:r>
          </a:p>
          <a:p>
            <a:pPr algn="ctr"/>
            <a:r>
              <a:rPr sz="1700" b="0" i="0">
                <a:solidFill>
                  <a:srgbClr val="8899AA"/>
                </a:solidFill>
                <a:latin typeface="Calibri"/>
              </a:rPr>
              <a:t>of peak canopy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859000" y="4407408"/>
            <a:ext cx="4846320" cy="1572768"/>
          </a:xfrm>
          <a:prstGeom prst="rect">
            <a:avLst/>
          </a:prstGeom>
          <a:solidFill>
            <a:srgbClr val="091A10"/>
          </a:solidFill>
          <a:ln w="9525">
            <a:solidFill>
              <a:srgbClr val="36C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59000" y="4407408"/>
            <a:ext cx="4846320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900" b="0" i="0">
                <a:solidFill>
                  <a:srgbClr val="C8D4E3"/>
                </a:solidFill>
                <a:latin typeface="Calibri"/>
              </a:rPr>
              <a:t>−ECM held at</a:t>
            </a:r>
          </a:p>
          <a:p>
            <a:pPr algn="ctr"/>
            <a:r>
              <a:rPr sz="5200" b="1" i="0">
                <a:solidFill>
                  <a:srgbClr val="36C97F"/>
                </a:solidFill>
                <a:latin typeface="Cambria"/>
              </a:rPr>
              <a:t>94–96%</a:t>
            </a:r>
          </a:p>
          <a:p>
            <a:pPr algn="ctr"/>
            <a:r>
              <a:rPr sz="1700" b="0" i="0">
                <a:solidFill>
                  <a:srgbClr val="8899AA"/>
                </a:solidFill>
                <a:latin typeface="Calibri"/>
              </a:rPr>
              <a:t>of peak canopy</a:t>
            </a:r>
          </a:p>
        </p:txBody>
      </p:sp>
      <p:pic>
        <p:nvPicPr>
          <p:cNvPr id="42" name="Picture 41" descr="fig1c_relativ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190" y="6144768"/>
            <a:ext cx="6863378" cy="397763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195560" y="10213848"/>
            <a:ext cx="9692640" cy="18836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E05C5C"/>
                </a:solidFill>
                <a:latin typeface="Calibri"/>
              </a:rPr>
              <a:t>Hypothesis refuted. </a:t>
            </a:r>
            <a:r>
              <a:rPr sz="2000" b="0" i="0">
                <a:solidFill>
                  <a:srgbClr val="C8D4E3"/>
                </a:solidFill>
                <a:latin typeface="Calibri"/>
              </a:rPr>
              <a:t>Mycorrhizal (+ECM) Populus tremula seedlings peaked, then died back — one individual fell to </a:t>
            </a:r>
            <a:r>
              <a:rPr sz="2000" b="1" i="0">
                <a:solidFill>
                  <a:srgbClr val="E05C5C"/>
                </a:solidFill>
                <a:latin typeface="Calibri"/>
              </a:rPr>
              <a:t>22% of peak canopy</a:t>
            </a:r>
            <a:r>
              <a:rPr sz="2000" b="0" i="0">
                <a:solidFill>
                  <a:srgbClr val="C8D4E3"/>
                </a:solidFill>
                <a:latin typeface="Calibri"/>
              </a:rPr>
              <a:t>. Non-mycorrhizal plants held near peak. The die-back was plainly visible in the timelapse; a start-to-end summary would have masked it.</a:t>
            </a:r>
          </a:p>
          <a:p>
            <a:pPr algn="l"/>
            <a:r>
              <a:rPr sz="1700" b="0" i="1">
                <a:solidFill>
                  <a:srgbClr val="8899AA"/>
                </a:solidFill>
                <a:latin typeface="Calibri"/>
              </a:rPr>
              <a:t>⚠ Caveat: +ECM imaged ~9 d; −ECM only ~6 d (duration confound); n = 2–5/group. Trends, not controlled proof.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12481559"/>
            <a:ext cx="10149840" cy="822960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12646151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1E9FAF"/>
                </a:solidFill>
                <a:latin typeface="Cambria"/>
              </a:rPr>
              <a:t>Launch 2 qPCR: Stress-Pathway Remodeling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60" y="13231367"/>
            <a:ext cx="9692640" cy="19050"/>
          </a:xfrm>
          <a:prstGeom prst="rect">
            <a:avLst/>
          </a:prstGeom>
          <a:solidFill>
            <a:srgbClr val="1E9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95560" y="13368528"/>
            <a:ext cx="3139440" cy="1874519"/>
          </a:xfrm>
          <a:prstGeom prst="rect">
            <a:avLst/>
          </a:prstGeom>
          <a:solidFill>
            <a:srgbClr val="101520"/>
          </a:solidFill>
          <a:ln w="9525">
            <a:solidFill>
              <a:srgbClr val="2D9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95560" y="13368528"/>
            <a:ext cx="3139440" cy="187451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MPK3</a:t>
            </a:r>
          </a:p>
          <a:p>
            <a:pPr algn="ctr"/>
            <a:r>
              <a:rPr sz="4600" b="1" i="0">
                <a:solidFill>
                  <a:srgbClr val="2D9BF0"/>
                </a:solidFill>
                <a:latin typeface="Cambria"/>
              </a:rPr>
              <a:t>0.34×</a:t>
            </a:r>
          </a:p>
          <a:p>
            <a:pPr algn="ctr"/>
            <a:r>
              <a:rPr sz="1800" b="1" i="0">
                <a:solidFill>
                  <a:srgbClr val="2D9BF0"/>
                </a:solidFill>
                <a:latin typeface="Calibri"/>
              </a:rPr>
              <a:t>↓ reduced</a:t>
            </a:r>
          </a:p>
          <a:p>
            <a:pPr algn="ctr"/>
            <a:r>
              <a:rPr sz="1500" b="0" i="0">
                <a:solidFill>
                  <a:srgbClr val="8899AA"/>
                </a:solidFill>
                <a:latin typeface="Calibri"/>
              </a:rPr>
              <a:t>stress MAP kinase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472160" y="13368528"/>
            <a:ext cx="3139440" cy="1874519"/>
          </a:xfrm>
          <a:prstGeom prst="rect">
            <a:avLst/>
          </a:prstGeom>
          <a:solidFill>
            <a:srgbClr val="101520"/>
          </a:solidFill>
          <a:ln w="9525">
            <a:solidFill>
              <a:srgbClr val="1E9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472160" y="13368528"/>
            <a:ext cx="3139440" cy="187451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TCH3</a:t>
            </a:r>
          </a:p>
          <a:p>
            <a:pPr algn="ctr"/>
            <a:r>
              <a:rPr sz="4600" b="1" i="0">
                <a:solidFill>
                  <a:srgbClr val="1E9FAF"/>
                </a:solidFill>
                <a:latin typeface="Cambria"/>
              </a:rPr>
              <a:t>0.56×</a:t>
            </a:r>
          </a:p>
          <a:p>
            <a:pPr algn="ctr"/>
            <a:r>
              <a:rPr sz="1800" b="1" i="0">
                <a:solidFill>
                  <a:srgbClr val="1E9FAF"/>
                </a:solidFill>
                <a:latin typeface="Calibri"/>
              </a:rPr>
              <a:t>↓ reduced</a:t>
            </a:r>
          </a:p>
          <a:p>
            <a:pPr algn="ctr"/>
            <a:r>
              <a:rPr sz="1500" b="0" i="0">
                <a:solidFill>
                  <a:srgbClr val="8899AA"/>
                </a:solidFill>
                <a:latin typeface="Calibri"/>
              </a:rPr>
              <a:t>touch / mechano signal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748760" y="13368528"/>
            <a:ext cx="3139440" cy="1874519"/>
          </a:xfrm>
          <a:prstGeom prst="rect">
            <a:avLst/>
          </a:prstGeom>
          <a:solidFill>
            <a:srgbClr val="101520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748760" y="13368528"/>
            <a:ext cx="3139440" cy="187451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CBP60g</a:t>
            </a:r>
          </a:p>
          <a:p>
            <a:pPr algn="ctr"/>
            <a:r>
              <a:rPr sz="4600" b="1" i="0">
                <a:solidFill>
                  <a:srgbClr val="9B59B6"/>
                </a:solidFill>
                <a:latin typeface="Cambria"/>
              </a:rPr>
              <a:t>1.60×</a:t>
            </a:r>
          </a:p>
          <a:p>
            <a:pPr algn="ctr"/>
            <a:r>
              <a:rPr sz="1800" b="1" i="0">
                <a:solidFill>
                  <a:srgbClr val="9B59B6"/>
                </a:solidFill>
                <a:latin typeface="Calibri"/>
              </a:rPr>
              <a:t>↑ elevated</a:t>
            </a:r>
          </a:p>
          <a:p>
            <a:pPr algn="ctr"/>
            <a:r>
              <a:rPr sz="1500" b="0" i="0">
                <a:solidFill>
                  <a:srgbClr val="8899AA"/>
                </a:solidFill>
                <a:latin typeface="Calibri"/>
              </a:rPr>
              <a:t>defense signaling</a:t>
            </a:r>
          </a:p>
        </p:txBody>
      </p:sp>
      <p:pic>
        <p:nvPicPr>
          <p:cNvPr id="53" name="Picture 52" descr="fig2_qpcr_fold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7079" y="15425927"/>
            <a:ext cx="6989601" cy="405079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195560" y="19568160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 i="1">
                <a:solidFill>
                  <a:srgbClr val="8899AA"/>
                </a:solidFill>
                <a:latin typeface="Calibri"/>
              </a:rPr>
              <a:t>Flown Arabidopsis trended: ↓ MPK3 (0.34×), ↓ TCH3 (0.56×), ↑ CBP60g (1.60×) vs. Lab control. Flight shifts which pathways engage, rather than simply amplifying stress. n=4; error bars cross zero — trends only.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482560" y="3520440"/>
            <a:ext cx="9326880" cy="585216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711160" y="3685032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9B59B6"/>
                </a:solidFill>
                <a:latin typeface="Cambria"/>
              </a:rPr>
              <a:t>Root Gravitropism Under Spectral Light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711160" y="4270248"/>
            <a:ext cx="8869680" cy="1905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ig3a_roottrace_ang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9776" y="4407408"/>
            <a:ext cx="6632447" cy="37307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0711160" y="8229599"/>
            <a:ext cx="8869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 i="1">
                <a:solidFill>
                  <a:srgbClr val="8899AA"/>
                </a:solidFill>
                <a:latin typeface="Calibri"/>
              </a:rPr>
              <a:t>Root-tip angle declined across all spectral treatments (blue, green, purple, red, white LEDs), confirming active gravitropic reorientation. Root length varied with spectrum. Establishes the team's capacity to quantify the gravity-sensing behavior that spaceflight perturbs.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60" y="9555480"/>
            <a:ext cx="9326880" cy="429768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11160" y="9720072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36C97F"/>
                </a:solidFill>
                <a:latin typeface="Cambria"/>
              </a:rPr>
              <a:t>Conclusions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711160" y="10305288"/>
            <a:ext cx="8869680" cy="19050"/>
          </a:xfrm>
          <a:prstGeom prst="rect">
            <a:avLst/>
          </a:prstGeom>
          <a:solidFill>
            <a:srgbClr val="36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11160" y="10442448"/>
            <a:ext cx="8869680" cy="32278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Platform works.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Three independent assays (phenotype, qPCR, timelapse) returned interpretable plant-biology readouts from suborbital flights.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E05C5C"/>
                </a:solidFill>
                <a:latin typeface="Cambria"/>
              </a:rPr>
              <a:t>Honest negative result.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ECM did not improve Populus flight survival — the die-back was only visible with peak→end trajectory analysis, not start-to-end.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Pathway remodeling, not simple stress.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qPCR trends (↓MPK3, ↓TCH3, ↑CBP60g) align with the orbital high-light/ROS/HSP framework (Choi et al., 2019).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36C97F"/>
                </a:solidFill>
                <a:latin typeface="Cambria"/>
              </a:rPr>
              <a:t>Open data.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Full OSDR/ISA-formatted dataset produced — student results enter the reusable science record.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482560" y="14036039"/>
            <a:ext cx="9326880" cy="352044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11160" y="14200631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1E9FAF"/>
                </a:solidFill>
                <a:latin typeface="Cambria"/>
              </a:rPr>
              <a:t>Future 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711160" y="14785847"/>
            <a:ext cx="8869680" cy="19050"/>
          </a:xfrm>
          <a:prstGeom prst="rect">
            <a:avLst/>
          </a:prstGeom>
          <a:solidFill>
            <a:srgbClr val="1E9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11160" y="14923007"/>
            <a:ext cx="8869680" cy="2450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HSP101/HSP70/WRKY33 targeted flight.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Add ROS-marker qPCR panel; H₂O₂ + hypoxia positive controls. n≥14 for 3-fold change (α=0.05, 80% power).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TREES repeat with matched imaging windows.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Remove duration confound; identify ECM species; add cm² calibration to pipeline.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Formal OSDR deposit. </a:t>
            </a:r>
            <a:r>
              <a:rPr sz="2100" b="0" i="0">
                <a:solidFill>
                  <a:srgbClr val="C8D4E3"/>
                </a:solidFill>
                <a:latin typeface="Calibri"/>
              </a:rPr>
              <a:t>Confirm current NASA OSDR requirements and finalize data submission.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482560" y="17739360"/>
            <a:ext cx="9326880" cy="2971800"/>
          </a:xfrm>
          <a:prstGeom prst="rect">
            <a:avLst/>
          </a:prstGeom>
          <a:solidFill>
            <a:srgbClr val="0F1A2B"/>
          </a:solidFill>
          <a:ln w="9525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11160" y="17903952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36C97F"/>
                </a:solidFill>
                <a:latin typeface="Cambria"/>
              </a:rPr>
              <a:t>Data &amp; References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711160" y="18489168"/>
            <a:ext cx="8869680" cy="19050"/>
          </a:xfrm>
          <a:prstGeom prst="rect">
            <a:avLst/>
          </a:prstGeom>
          <a:solidFill>
            <a:srgbClr val="36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11160" y="18626327"/>
            <a:ext cx="8869680" cy="1901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Data: </a:t>
            </a:r>
            <a:r>
              <a:rPr sz="2000" b="0" i="0">
                <a:solidFill>
                  <a:srgbClr val="C8D4E3"/>
                </a:solidFill>
                <a:latin typeface="Calibri"/>
              </a:rPr>
              <a:t>Code, processed data, and ISA package: github.com/dr-richard-barker/madwest-astrobotany · Zenodo (DOI on deposit). Raw imagery in Zenodo.</a:t>
            </a:r>
          </a:p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 </a:t>
            </a:r>
          </a:p>
          <a:p>
            <a:pPr algn="l"/>
            <a:r>
              <a:rPr sz="1800" b="0" i="0">
                <a:solidFill>
                  <a:srgbClr val="8899AA"/>
                </a:solidFill>
                <a:latin typeface="Calibri"/>
              </a:rPr>
              <a:t>[1] Choi et al. (2019). Am. J. Bot. 106(1):123–136.</a:t>
            </a:r>
          </a:p>
          <a:p>
            <a:pPr algn="l"/>
            <a:r>
              <a:rPr sz="1800" b="0" i="0">
                <a:solidFill>
                  <a:srgbClr val="8899AA"/>
                </a:solidFill>
                <a:latin typeface="Calibri"/>
              </a:rPr>
              <a:t>[2] Willems et al. (2016). Plant Physiol. 171(3):1720–1733.</a:t>
            </a:r>
          </a:p>
          <a:p>
            <a:pPr algn="l"/>
            <a:r>
              <a:rPr sz="1800" b="0" i="0">
                <a:solidFill>
                  <a:srgbClr val="8899AA"/>
                </a:solidFill>
                <a:latin typeface="Calibri"/>
              </a:rPr>
              <a:t>[3] Toyota et al. (2018). Science 361:1112–1115.</a:t>
            </a:r>
          </a:p>
          <a:p>
            <a:pPr algn="l"/>
            <a:r>
              <a:rPr sz="1800" b="0" i="0">
                <a:solidFill>
                  <a:srgbClr val="8899AA"/>
                </a:solidFill>
                <a:latin typeface="Calibri"/>
              </a:rPr>
              <a:t>[4] NASA OSDR / GeneLab: osdr.nasa.gov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20830032"/>
            <a:ext cx="30266640" cy="47548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20875752"/>
            <a:ext cx="29352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0" i="0">
                <a:solidFill>
                  <a:srgbClr val="8899AA"/>
                </a:solidFill>
                <a:latin typeface="Calibri"/>
              </a:rPr>
              <a:t>Not affiliated with or endorsed by NASA  ·  Independent educational project  ·  ASGSR HS/MS Category  ·  dr.richard.barker@gmail.com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